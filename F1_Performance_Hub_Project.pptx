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713232"/>
            <a:ext cx="11292840" cy="13716"/>
          </a:xfrm>
          <a:prstGeom prst="rect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1D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8412480" y="1005840"/>
            <a:ext cx="201168" cy="4297680"/>
          </a:xfrm>
          <a:prstGeom prst="parallelogram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8915400" y="1298448"/>
            <a:ext cx="201168" cy="4297680"/>
          </a:xfrm>
          <a:prstGeom prst="parallelogram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/>
          <p:cNvSpPr/>
          <p:nvPr/>
        </p:nvSpPr>
        <p:spPr>
          <a:xfrm>
            <a:off x="9418319" y="1005840"/>
            <a:ext cx="201168" cy="4297680"/>
          </a:xfrm>
          <a:prstGeom prst="parallelogram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arallelogram 7"/>
          <p:cNvSpPr/>
          <p:nvPr/>
        </p:nvSpPr>
        <p:spPr>
          <a:xfrm>
            <a:off x="9921240" y="1298448"/>
            <a:ext cx="201168" cy="4297680"/>
          </a:xfrm>
          <a:prstGeom prst="parallelogram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arallelogram 8"/>
          <p:cNvSpPr/>
          <p:nvPr/>
        </p:nvSpPr>
        <p:spPr>
          <a:xfrm>
            <a:off x="10424159" y="1005840"/>
            <a:ext cx="201168" cy="4297680"/>
          </a:xfrm>
          <a:prstGeom prst="parallelogram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arallelogram 9"/>
          <p:cNvSpPr/>
          <p:nvPr/>
        </p:nvSpPr>
        <p:spPr>
          <a:xfrm>
            <a:off x="10927080" y="1298448"/>
            <a:ext cx="201168" cy="4297680"/>
          </a:xfrm>
          <a:prstGeom prst="parallelogram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685800"/>
            <a:ext cx="54864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1">
                <a:solidFill>
                  <a:srgbClr val="E10023"/>
                </a:solidFill>
                <a:latin typeface="Aptos"/>
              </a:defRPr>
            </a:pPr>
            <a:r>
              <a:rPr dirty="0"/>
              <a:t>POWER BI • DATA ANALYTICS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7498079" cy="1280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3800" b="1">
                <a:solidFill>
                  <a:srgbClr val="F5F6F8"/>
                </a:solidFill>
                <a:latin typeface="Aptos Display"/>
              </a:defRPr>
            </a:pPr>
            <a:r>
              <a:t>F1 PERFORMANCE</a:t>
            </a:r>
            <a:br/>
            <a:r>
              <a:t>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999232"/>
            <a:ext cx="676656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900" b="0">
                <a:solidFill>
                  <a:srgbClr val="AAB1BB"/>
                </a:solidFill>
                <a:latin typeface="Aptos"/>
              </a:defRPr>
            </a:pPr>
            <a:r>
              <a:t>Turning qualifying and lap-time records into an interactive analytical 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251960"/>
            <a:ext cx="621792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400" b="0">
                <a:solidFill>
                  <a:srgbClr val="F5F6F8"/>
                </a:solidFill>
                <a:latin typeface="Aptos"/>
              </a:defRPr>
            </a:pPr>
            <a:r>
              <a:t>A project about comparison, context, and responsible interpretation—not just charts.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263640"/>
            <a:ext cx="6400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rPr dirty="0"/>
              <a:t>TANISHA SHAH  •  COMPUTER ENGINEERING  •  SEMESTER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3796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defRPr sz="900" b="1">
                <a:solidFill>
                  <a:srgbClr val="E10023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713232"/>
            <a:ext cx="11292840" cy="13716"/>
          </a:xfrm>
          <a:prstGeom prst="rect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E10023"/>
                </a:solidFill>
                <a:latin typeface="Aptos"/>
              </a:defRPr>
            </a:pPr>
            <a:r>
              <a:t>01 / PROJECT IN ONE MINUTE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972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What this project actually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9728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AAB1BB"/>
                </a:solidFill>
                <a:latin typeface="Aptos"/>
              </a:defRPr>
            </a:pPr>
            <a:r>
              <a:t>A Power BI report that turns two related data tables into several complementary performance views.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defRPr sz="900" b="1">
                <a:solidFill>
                  <a:srgbClr val="E1002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2606040" cy="123444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325880"/>
            <a:ext cx="50292" cy="123444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44752"/>
            <a:ext cx="23317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QUALIFYING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709928"/>
            <a:ext cx="233172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11,120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194560"/>
            <a:ext cx="22860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rPr dirty="0"/>
              <a:t>One record per driver–race combination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1325880"/>
            <a:ext cx="2606040" cy="123444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10128" y="1325880"/>
            <a:ext cx="50292" cy="123444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1444752"/>
            <a:ext cx="23317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LAP-TIME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709928"/>
            <a:ext cx="233172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77,840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194560"/>
            <a:ext cx="22860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Seven lap records per qualifying entity/race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1325880"/>
            <a:ext cx="2606040" cy="123444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71616" y="1325880"/>
            <a:ext cx="50292" cy="123444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36207" y="1444752"/>
            <a:ext cx="23317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1709928"/>
            <a:ext cx="233172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2000–2026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2194560"/>
            <a:ext cx="22860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Generated year labels; not a verified race calendar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33104" y="1325880"/>
            <a:ext cx="2606040" cy="123444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833104" y="1325880"/>
            <a:ext cx="50292" cy="123444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97696" y="1444752"/>
            <a:ext cx="23317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ENTITIES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1709928"/>
            <a:ext cx="233172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20 /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7696" y="2194560"/>
            <a:ext cx="22860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Driver identifiers / constructor identifiers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834640"/>
            <a:ext cx="6675120" cy="315468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3063240"/>
            <a:ext cx="6217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E10023"/>
                </a:solidFill>
                <a:latin typeface="Aptos"/>
              </a:defRPr>
            </a:pPr>
            <a:r>
              <a:t>THE ANALYTICAL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520440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1">
                <a:solidFill>
                  <a:srgbClr val="E1002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3520440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F5F6F8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3520440"/>
            <a:ext cx="40690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AAB1BB"/>
                </a:solidFill>
                <a:latin typeface="Aptos"/>
              </a:defRPr>
            </a:pPr>
            <a:r>
              <a:t>What does the overall dataset look like?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08736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1">
                <a:solidFill>
                  <a:srgbClr val="E1002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4087368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F5F6F8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4087368"/>
            <a:ext cx="40690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AAB1BB"/>
                </a:solidFill>
                <a:latin typeface="Aptos"/>
              </a:defRPr>
            </a:pPr>
            <a:r>
              <a:t>How do driver and constructor indicators differ?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654296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1">
                <a:solidFill>
                  <a:srgbClr val="E1002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4654296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F5F6F8"/>
                </a:solidFill>
                <a:latin typeface="Aptos"/>
              </a:defRPr>
            </a:pPr>
            <a:r>
              <a:t>Track change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8920" y="4654296"/>
            <a:ext cx="40690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AAB1BB"/>
                </a:solidFill>
                <a:latin typeface="Aptos"/>
              </a:defRPr>
            </a:pPr>
            <a:r>
              <a:t>How do qualifying and lap-time patterns vary over time?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221224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1">
                <a:solidFill>
                  <a:srgbClr val="E1002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5221224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F5F6F8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8920" y="5221224"/>
            <a:ext cx="40690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AAB1BB"/>
                </a:solidFill>
                <a:latin typeface="Aptos"/>
              </a:defRPr>
            </a:pPr>
            <a:r>
              <a:t>What can be concluded—and what cannot?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52360" y="2834640"/>
            <a:ext cx="3977639" cy="1463041"/>
          </a:xfrm>
          <a:prstGeom prst="roundRect">
            <a:avLst/>
          </a:prstGeom>
          <a:solidFill>
            <a:srgbClr val="24272E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98664" y="2944368"/>
            <a:ext cx="37033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49BE8B"/>
                </a:solidFill>
                <a:latin typeface="Aptos"/>
              </a:defRPr>
            </a:pPr>
            <a:r>
              <a:t>CORE PRINCIPLE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98664" y="3200400"/>
            <a:ext cx="3703320" cy="2715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A dashboard is useful when each visual answers a question. A number is not meaningful until its definition, direction, population and limitations are clear.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713232"/>
            <a:ext cx="11292840" cy="13716"/>
          </a:xfrm>
          <a:prstGeom prst="rect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E10023"/>
                </a:solidFill>
                <a:latin typeface="Aptos"/>
              </a:defRPr>
            </a:pPr>
            <a:r>
              <a:t>02 /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972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The problem: one average cannot explain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9728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AAB1BB"/>
                </a:solidFill>
                <a:latin typeface="Aptos"/>
              </a:defRPr>
            </a:pPr>
            <a:r>
              <a:t>The project is structured around the questions a viewer should be able to investigate.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defRPr sz="900" b="1">
                <a:solidFill>
                  <a:srgbClr val="E1002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5440680" cy="452628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572768"/>
            <a:ext cx="48463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E10023"/>
                </a:solidFill>
                <a:latin typeface="Aptos"/>
              </a:defRPr>
            </a:pPr>
            <a:r>
              <a:t>QUESTIONS THE REPORT IS DESIGNED TO ANSWER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139696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057400"/>
            <a:ext cx="4526280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300" b="0">
                <a:solidFill>
                  <a:srgbClr val="F5F6F8"/>
                </a:solidFill>
                <a:latin typeface="Aptos"/>
              </a:defRPr>
            </a:pPr>
            <a:r>
              <a:t>What is the overall qualifying-position baseline across the selected records?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798063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715768"/>
            <a:ext cx="4526280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300" b="0">
                <a:solidFill>
                  <a:srgbClr val="F5F6F8"/>
                </a:solidFill>
                <a:latin typeface="Aptos"/>
              </a:defRPr>
            </a:pPr>
            <a:r>
              <a:t>Which driver and constructor identifiers have different reported qualifying-edge values?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456432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374136"/>
            <a:ext cx="4526280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300" b="0">
                <a:solidFill>
                  <a:srgbClr val="F5F6F8"/>
                </a:solidFill>
                <a:latin typeface="Aptos"/>
              </a:defRPr>
            </a:pPr>
            <a:r>
              <a:t>Does Q3 reach tell the same story as average qualifying position?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114800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032504"/>
            <a:ext cx="4526280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300" b="0">
                <a:solidFill>
                  <a:srgbClr val="F5F6F8"/>
                </a:solidFill>
                <a:latin typeface="Aptos"/>
              </a:defRPr>
            </a:pPr>
            <a:r>
              <a:t>How does average qualifying position vary by season?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773168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690872"/>
            <a:ext cx="4526280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300" b="0">
                <a:solidFill>
                  <a:srgbClr val="F5F6F8"/>
                </a:solidFill>
                <a:latin typeface="Aptos"/>
              </a:defRPr>
            </a:pPr>
            <a:r>
              <a:t>How does average lap time vary by lap number and year?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325880"/>
            <a:ext cx="5166360" cy="452628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8" y="1572768"/>
            <a:ext cx="46634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E10023"/>
                </a:solidFill>
                <a:latin typeface="Aptos"/>
              </a:defRPr>
            </a:pPr>
            <a:r>
              <a:t>WHAT “SUCCESS” MEANS HERE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2139696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20840" y="2057400"/>
            <a:ext cx="4297680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300" b="0">
                <a:solidFill>
                  <a:srgbClr val="F5F6F8"/>
                </a:solidFill>
                <a:latin typeface="Aptos"/>
              </a:defRPr>
            </a:pPr>
            <a:r>
              <a:t>Consistent metric definitions across report pages.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2798063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0840" y="2715768"/>
            <a:ext cx="4297680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300" b="0">
                <a:solidFill>
                  <a:srgbClr val="F5F6F8"/>
                </a:solidFill>
                <a:latin typeface="Aptos"/>
              </a:defRPr>
            </a:pPr>
            <a:r>
              <a:t>Ability to move from overview to focused comparisons.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3456432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20840" y="3374136"/>
            <a:ext cx="4297680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300" b="0">
                <a:solidFill>
                  <a:srgbClr val="F5F6F8"/>
                </a:solidFill>
                <a:latin typeface="Aptos"/>
              </a:defRPr>
            </a:pPr>
            <a:r>
              <a:t>Visuals that expose patterns rather than imply unsupported causes.</a:t>
            </a:r>
          </a:p>
        </p:txBody>
      </p:sp>
      <p:sp>
        <p:nvSpPr>
          <p:cNvPr id="29" name="Oval 28"/>
          <p:cNvSpPr/>
          <p:nvPr/>
        </p:nvSpPr>
        <p:spPr>
          <a:xfrm>
            <a:off x="6537960" y="4114800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20840" y="4032504"/>
            <a:ext cx="4297680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300" b="0">
                <a:solidFill>
                  <a:srgbClr val="F5F6F8"/>
                </a:solidFill>
                <a:latin typeface="Aptos"/>
              </a:defRPr>
            </a:pPr>
            <a:r>
              <a:t>Clear disclosure that the add-on dataset is synthetic.</a:t>
            </a:r>
          </a:p>
        </p:txBody>
      </p:sp>
      <p:sp>
        <p:nvSpPr>
          <p:cNvPr id="31" name="Oval 30"/>
          <p:cNvSpPr/>
          <p:nvPr/>
        </p:nvSpPr>
        <p:spPr>
          <a:xfrm>
            <a:off x="6537960" y="4773168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20840" y="4690872"/>
            <a:ext cx="4297680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300" b="0">
                <a:solidFill>
                  <a:srgbClr val="F5F6F8"/>
                </a:solidFill>
                <a:latin typeface="Aptos"/>
              </a:defRPr>
            </a:pPr>
            <a:r>
              <a:t>No unsupported claim that the sample represents real F1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713232"/>
            <a:ext cx="11292840" cy="13716"/>
          </a:xfrm>
          <a:prstGeom prst="rect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E10023"/>
                </a:solidFill>
                <a:latin typeface="Aptos"/>
              </a:defRPr>
            </a:pPr>
            <a:r>
              <a:t>03 / DATA &amp;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972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Know the data before interpreting the 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defRPr sz="900" b="1">
                <a:solidFill>
                  <a:srgbClr val="E1002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2606040" cy="123444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325880"/>
            <a:ext cx="50292" cy="123444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44752"/>
            <a:ext cx="23317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QUALIFYING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709928"/>
            <a:ext cx="233172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11,120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194560"/>
            <a:ext cx="228600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rPr dirty="0"/>
              <a:t>Year, round, keys, qualifying position and Q1/Q2/Q3 times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1325880"/>
            <a:ext cx="2606040" cy="123444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10128" y="1325880"/>
            <a:ext cx="50292" cy="123444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1444752"/>
            <a:ext cx="23317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LAP-TIME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709928"/>
            <a:ext cx="233172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77,840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194560"/>
            <a:ext cx="228600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rPr dirty="0"/>
              <a:t>Seven lap records per driver–race combination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1325880"/>
            <a:ext cx="2606040" cy="123444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71616" y="1325880"/>
            <a:ext cx="50292" cy="123444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36207" y="1444752"/>
            <a:ext cx="23317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TOTAL DATA 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1709928"/>
            <a:ext cx="233172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88,960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2194560"/>
            <a:ext cx="22860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Excludes headers; two tables should not be blindly merged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33104" y="1325880"/>
            <a:ext cx="2606040" cy="123444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833104" y="1325880"/>
            <a:ext cx="50292" cy="123444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97696" y="1444752"/>
            <a:ext cx="23317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YEAR LABELS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1709928"/>
            <a:ext cx="233172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27 years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7696" y="2194560"/>
            <a:ext cx="22860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2000 through 2026 inclusive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880360"/>
            <a:ext cx="10927080" cy="288036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3127248"/>
            <a:ext cx="6126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E10023"/>
                </a:solidFill>
                <a:latin typeface="Aptos"/>
              </a:defRPr>
            </a:pPr>
            <a:r>
              <a:t>DATA GRAIN &amp; JOIN LOGIC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3648456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3566160"/>
            <a:ext cx="5806440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rPr dirty="0"/>
              <a:t>Qualifying grain: one row per driver per  race.</a:t>
            </a:r>
          </a:p>
        </p:txBody>
      </p:sp>
      <p:sp>
        <p:nvSpPr>
          <p:cNvPr id="33" name="Oval 32"/>
          <p:cNvSpPr/>
          <p:nvPr/>
        </p:nvSpPr>
        <p:spPr>
          <a:xfrm>
            <a:off x="822960" y="4151376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5840" y="4069080"/>
            <a:ext cx="5806440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rPr dirty="0"/>
              <a:t>Lap-time grain: seven lap records per river per race.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" y="4654296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4572000"/>
            <a:ext cx="580644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Keys use SYN_ namespaces and are intentionally not original F1 IDs.</a:t>
            </a:r>
          </a:p>
        </p:txBody>
      </p:sp>
      <p:sp>
        <p:nvSpPr>
          <p:cNvPr id="37" name="Oval 36"/>
          <p:cNvSpPr/>
          <p:nvPr/>
        </p:nvSpPr>
        <p:spPr>
          <a:xfrm>
            <a:off x="822960" y="5157216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580644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The workbook recommends keeping these tables separate unless a verified mapping is created.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713232"/>
            <a:ext cx="11292840" cy="13716"/>
          </a:xfrm>
          <a:prstGeom prst="rect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E10023"/>
                </a:solidFill>
                <a:latin typeface="Aptos"/>
              </a:defRPr>
            </a:pPr>
            <a:r>
              <a:t>04 /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972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How the data becomes an interactive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9728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AAB1BB"/>
                </a:solidFill>
                <a:latin typeface="Aptos"/>
              </a:defRPr>
            </a:pPr>
            <a:r>
              <a:t>A transparent workflow helps users understand where the metrics come from.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defRPr sz="900" b="1">
                <a:solidFill>
                  <a:srgbClr val="E1002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65960"/>
            <a:ext cx="1965960" cy="1965960"/>
          </a:xfrm>
          <a:prstGeom prst="roundRect">
            <a:avLst/>
          </a:prstGeom>
          <a:solidFill>
            <a:srgbClr val="24272E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" y="2212848"/>
            <a:ext cx="16459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defRPr sz="1000" b="1">
                <a:solidFill>
                  <a:srgbClr val="E10023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651760"/>
            <a:ext cx="171907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1500" b="1">
                <a:solidFill>
                  <a:srgbClr val="F5F6F8"/>
                </a:solidFill>
                <a:latin typeface="Aptos"/>
              </a:defRPr>
            </a:pPr>
            <a:r>
              <a:t>Excel workbook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246120"/>
            <a:ext cx="1719072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defRPr sz="1000" b="0">
                <a:solidFill>
                  <a:srgbClr val="AAB1BB"/>
                </a:solidFill>
                <a:latin typeface="Aptos"/>
              </a:defRPr>
            </a:pPr>
            <a:r>
              <a:t>Two synthetic tables</a:t>
            </a:r>
          </a:p>
        </p:txBody>
      </p:sp>
      <p:sp>
        <p:nvSpPr>
          <p:cNvPr id="13" name="Chevron 12"/>
          <p:cNvSpPr/>
          <p:nvPr/>
        </p:nvSpPr>
        <p:spPr>
          <a:xfrm>
            <a:off x="2606040" y="2697480"/>
            <a:ext cx="256032" cy="438912"/>
          </a:xfrm>
          <a:prstGeom prst="chevron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26079" y="1965960"/>
            <a:ext cx="1965960" cy="1965960"/>
          </a:xfrm>
          <a:prstGeom prst="roundRect">
            <a:avLst/>
          </a:prstGeom>
          <a:solidFill>
            <a:srgbClr val="24272E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2384" y="2212848"/>
            <a:ext cx="16459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defRPr sz="1000" b="1">
                <a:solidFill>
                  <a:srgbClr val="E10023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2651760"/>
            <a:ext cx="171907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1500" b="1">
                <a:solidFill>
                  <a:srgbClr val="F5F6F8"/>
                </a:solidFill>
                <a:latin typeface="Aptos"/>
              </a:defRPr>
            </a:pPr>
            <a:r>
              <a:t>Check grain &amp; keys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246120"/>
            <a:ext cx="1719072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defRPr sz="1000" b="0">
                <a:solidFill>
                  <a:srgbClr val="AAB1BB"/>
                </a:solidFill>
                <a:latin typeface="Aptos"/>
              </a:defRPr>
            </a:pPr>
            <a:r>
              <a:t>Validate row counts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60" y="2697480"/>
            <a:ext cx="256032" cy="438912"/>
          </a:xfrm>
          <a:prstGeom prst="chevron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257800" y="1965960"/>
            <a:ext cx="1965960" cy="1965960"/>
          </a:xfrm>
          <a:prstGeom prst="roundRect">
            <a:avLst/>
          </a:prstGeom>
          <a:solidFill>
            <a:srgbClr val="24272E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04104" y="2212848"/>
            <a:ext cx="16459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defRPr sz="1000" b="1">
                <a:solidFill>
                  <a:srgbClr val="E10023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6" y="2651760"/>
            <a:ext cx="171907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1500" b="1">
                <a:solidFill>
                  <a:srgbClr val="F5F6F8"/>
                </a:solidFill>
                <a:latin typeface="Aptos"/>
              </a:defRPr>
            </a:pPr>
            <a:r>
              <a:t>Keep tables separate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5816" y="3246120"/>
            <a:ext cx="1719072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defRPr sz="1000" b="0">
                <a:solidFill>
                  <a:srgbClr val="AAB1BB"/>
                </a:solidFill>
                <a:latin typeface="Aptos"/>
              </a:defRPr>
            </a:pPr>
            <a:r>
              <a:t>Avoid false joins</a:t>
            </a:r>
          </a:p>
        </p:txBody>
      </p:sp>
      <p:sp>
        <p:nvSpPr>
          <p:cNvPr id="23" name="Chevron 22"/>
          <p:cNvSpPr/>
          <p:nvPr/>
        </p:nvSpPr>
        <p:spPr>
          <a:xfrm>
            <a:off x="7269480" y="2697480"/>
            <a:ext cx="256032" cy="438912"/>
          </a:xfrm>
          <a:prstGeom prst="chevron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589519" y="1965960"/>
            <a:ext cx="1965960" cy="1965960"/>
          </a:xfrm>
          <a:prstGeom prst="roundRect">
            <a:avLst/>
          </a:prstGeom>
          <a:solidFill>
            <a:srgbClr val="24272E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35823" y="2212848"/>
            <a:ext cx="16459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defRPr sz="1000" b="1">
                <a:solidFill>
                  <a:srgbClr val="E10023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7536" y="2651760"/>
            <a:ext cx="171907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1500" b="1">
                <a:solidFill>
                  <a:srgbClr val="F5F6F8"/>
                </a:solidFill>
                <a:latin typeface="Aptos"/>
              </a:defRPr>
            </a:pPr>
            <a:r>
              <a:t>Define measures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7536" y="3246120"/>
            <a:ext cx="1719072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defRPr sz="1000" b="0">
                <a:solidFill>
                  <a:srgbClr val="AAB1BB"/>
                </a:solidFill>
                <a:latin typeface="Aptos"/>
              </a:defRPr>
            </a:pPr>
            <a:r>
              <a:t>Position, reach, lap time</a:t>
            </a:r>
          </a:p>
        </p:txBody>
      </p:sp>
      <p:sp>
        <p:nvSpPr>
          <p:cNvPr id="28" name="Chevron 27"/>
          <p:cNvSpPr/>
          <p:nvPr/>
        </p:nvSpPr>
        <p:spPr>
          <a:xfrm>
            <a:off x="9601200" y="2697480"/>
            <a:ext cx="256032" cy="438912"/>
          </a:xfrm>
          <a:prstGeom prst="chevron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921240" y="1965960"/>
            <a:ext cx="1965960" cy="1965960"/>
          </a:xfrm>
          <a:prstGeom prst="roundRect">
            <a:avLst/>
          </a:prstGeom>
          <a:solidFill>
            <a:srgbClr val="24272E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67544" y="2212848"/>
            <a:ext cx="16459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defRPr sz="1000" b="1">
                <a:solidFill>
                  <a:srgbClr val="E10023"/>
                </a:solidFill>
                <a:latin typeface="Aptos"/>
              </a:defRPr>
            </a:pPr>
            <a:r>
              <a:t>PRESENT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9256" y="2651760"/>
            <a:ext cx="171907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1500" b="1">
                <a:solidFill>
                  <a:srgbClr val="F5F6F8"/>
                </a:solidFill>
                <a:latin typeface="Aptos"/>
              </a:defRPr>
            </a:pPr>
            <a:r>
              <a:t>Power BI pages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9256" y="3246120"/>
            <a:ext cx="1719072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defRPr sz="1000" b="0">
                <a:solidFill>
                  <a:srgbClr val="AAB1BB"/>
                </a:solidFill>
                <a:latin typeface="Aptos"/>
              </a:defRPr>
            </a:pPr>
            <a:r>
              <a:t>Overview → detail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480560"/>
            <a:ext cx="5349240" cy="1051560"/>
          </a:xfrm>
          <a:prstGeom prst="roundRect">
            <a:avLst/>
          </a:prstGeom>
          <a:solidFill>
            <a:srgbClr val="24272E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" y="4590288"/>
            <a:ext cx="5074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E10023"/>
                </a:solidFill>
                <a:latin typeface="Aptos"/>
              </a:defRPr>
            </a:pPr>
            <a:r>
              <a:t>WHY THE GRAIN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" y="4846320"/>
            <a:ext cx="5074920" cy="61264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Qualifying and lap-time rows represent different levels of detail. Combining them without careful modelling can duplicate qualifying records and distort averages.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480560"/>
            <a:ext cx="5212080" cy="1051560"/>
          </a:xfrm>
          <a:prstGeom prst="roundRect">
            <a:avLst/>
          </a:prstGeom>
          <a:solidFill>
            <a:srgbClr val="24272E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9944" y="4590288"/>
            <a:ext cx="49377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49BE8B"/>
                </a:solidFill>
                <a:latin typeface="Aptos"/>
              </a:defRPr>
            </a:pPr>
            <a:r>
              <a:t>WHAT TO VERIFY IN POWER BI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4846320"/>
            <a:ext cx="4937760" cy="61264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Check data types, row counts, relationship direction, filter behaviour, and each measure against a small manual calculation.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713232"/>
            <a:ext cx="11292840" cy="13716"/>
          </a:xfrm>
          <a:prstGeom prst="rect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E10023"/>
                </a:solidFill>
                <a:latin typeface="Aptos"/>
              </a:defRPr>
            </a:pPr>
            <a:r>
              <a:t>05 / METRIC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972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What each KPI means—and what it does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9728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AAB1BB"/>
                </a:solidFill>
                <a:latin typeface="Aptos"/>
              </a:defRPr>
            </a:pPr>
            <a:r>
              <a:t>Definitions and direction should be explained before comparing values.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defRPr sz="900" b="1">
                <a:solidFill>
                  <a:srgbClr val="E1002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11018520" cy="932688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463039"/>
            <a:ext cx="2331720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1200" b="1">
                <a:solidFill>
                  <a:srgbClr val="F5F6F8"/>
                </a:solidFill>
                <a:latin typeface="Aptos"/>
              </a:defRPr>
            </a:pPr>
            <a:r>
              <a:t>Average qualifying 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444752"/>
            <a:ext cx="3794760" cy="6400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Mean of the qualifying-position values included by the current filters.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444752"/>
            <a:ext cx="3977639" cy="6400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1000" b="0">
                <a:solidFill>
                  <a:srgbClr val="FFE0E5"/>
                </a:solidFill>
                <a:latin typeface="Aptos"/>
              </a:defRPr>
            </a:pPr>
            <a:r>
              <a:t>Lower is better because position 1 is ahead of position 10.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468880"/>
            <a:ext cx="11018520" cy="932688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606040"/>
            <a:ext cx="2331720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1200" b="1">
                <a:solidFill>
                  <a:srgbClr val="F5F6F8"/>
                </a:solidFill>
                <a:latin typeface="Aptos"/>
              </a:defRPr>
            </a:pPr>
            <a:r>
              <a:t>Q3 reach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587752"/>
            <a:ext cx="3794760" cy="6400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Share of included records meeting the dashboard’s Q3-reach rule.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2587752"/>
            <a:ext cx="3977639" cy="6400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1000" b="0">
                <a:solidFill>
                  <a:srgbClr val="FFE0E5"/>
                </a:solidFill>
                <a:latin typeface="Aptos"/>
              </a:defRPr>
            </a:pPr>
            <a:r>
              <a:t>A rate of 50% is not the same as average position.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11018520" cy="932688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749040"/>
            <a:ext cx="2331720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1200" b="1">
                <a:solidFill>
                  <a:srgbClr val="F5F6F8"/>
                </a:solidFill>
                <a:latin typeface="Aptos"/>
              </a:defRPr>
            </a:pPr>
            <a:r>
              <a:t>Position spread (5.78)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730752"/>
            <a:ext cx="3794760" cy="6400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A standard-deviation-style measure reported by the dashboard.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730752"/>
            <a:ext cx="3977639" cy="6400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1000" b="0">
                <a:solidFill>
                  <a:srgbClr val="FFE0E5"/>
                </a:solidFill>
                <a:latin typeface="Aptos"/>
              </a:defRPr>
            </a:pPr>
            <a:r>
              <a:t>Larger spread means more variation; confirm the exact population and filter context.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754880"/>
            <a:ext cx="11018520" cy="932688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892040"/>
            <a:ext cx="2331720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1200" b="1">
                <a:solidFill>
                  <a:srgbClr val="F5F6F8"/>
                </a:solidFill>
                <a:latin typeface="Aptos"/>
              </a:defRPr>
            </a:pPr>
            <a:r>
              <a:t>Best Q3 time (76.219 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873752"/>
            <a:ext cx="3794760" cy="6400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Lowest qualifying Q3 time recorded in the current view.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4873752"/>
            <a:ext cx="3977639" cy="6400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1000" b="0">
                <a:solidFill>
                  <a:srgbClr val="FFE0E5"/>
                </a:solidFill>
                <a:latin typeface="Aptos"/>
              </a:defRPr>
            </a:pPr>
            <a:r>
              <a:t>A minimum is an extreme value, not a typical performance measure.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713232"/>
            <a:ext cx="11292840" cy="13716"/>
          </a:xfrm>
          <a:prstGeom prst="rect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E10023"/>
                </a:solidFill>
                <a:latin typeface="Aptos"/>
              </a:defRPr>
            </a:pPr>
            <a:r>
              <a:t>06 / OVERVIEW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972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Reading the overall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9728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AAB1BB"/>
                </a:solidFill>
                <a:latin typeface="Aptos"/>
              </a:defRPr>
            </a:pPr>
            <a:r>
              <a:t>The overview is a reference point, not a final judgement of any one driver or constructor.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defRPr sz="900" b="1">
                <a:solidFill>
                  <a:srgbClr val="E1002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2606040" cy="128016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50292" cy="128016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444752"/>
            <a:ext cx="23317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AVERAGE QUALIFYING 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709928"/>
            <a:ext cx="233172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10.48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194560"/>
            <a:ext cx="2286000" cy="37490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Read lower positions as better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1325880"/>
            <a:ext cx="2606040" cy="128016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10128" y="1325880"/>
            <a:ext cx="50292" cy="1280160"/>
          </a:xfrm>
          <a:prstGeom prst="rect">
            <a:avLst/>
          </a:prstGeom>
          <a:solidFill>
            <a:srgbClr val="49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1444752"/>
            <a:ext cx="23317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Q3 REACH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709928"/>
            <a:ext cx="233172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50.0%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194560"/>
            <a:ext cx="2286000" cy="37490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About half under the report’s reach definition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25896" y="1325880"/>
            <a:ext cx="2606040" cy="128016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25896" y="1325880"/>
            <a:ext cx="50292" cy="1280160"/>
          </a:xfrm>
          <a:prstGeom prst="rect">
            <a:avLst/>
          </a:prstGeom>
          <a:solidFill>
            <a:srgbClr val="F5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0488" y="1444752"/>
            <a:ext cx="23317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POSITION SPREAD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1709928"/>
            <a:ext cx="233172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5.78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2194560"/>
            <a:ext cx="2286000" cy="37490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Variation around the average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41664" y="1325880"/>
            <a:ext cx="2606040" cy="128016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741664" y="1325880"/>
            <a:ext cx="50292" cy="128016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06256" y="1444752"/>
            <a:ext cx="23317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BEST Q3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06256" y="1709928"/>
            <a:ext cx="233172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76.219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6" y="2194560"/>
            <a:ext cx="2286000" cy="37490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Fastest observed Q3 time in current 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2971800"/>
            <a:ext cx="6583680" cy="260604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3200400"/>
            <a:ext cx="60350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E10023"/>
                </a:solidFill>
                <a:latin typeface="Aptos"/>
              </a:defRPr>
            </a:pPr>
            <a:r>
              <a:t>HOW TO READ THESE TOGETHER</a:t>
            </a:r>
          </a:p>
        </p:txBody>
      </p:sp>
      <p:sp>
        <p:nvSpPr>
          <p:cNvPr id="31" name="Oval 30"/>
          <p:cNvSpPr/>
          <p:nvPr/>
        </p:nvSpPr>
        <p:spPr>
          <a:xfrm>
            <a:off x="841248" y="3694176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4128" y="3611880"/>
            <a:ext cx="5715000" cy="41147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10.48 summarises the average position across the filtered records.</a:t>
            </a:r>
          </a:p>
        </p:txBody>
      </p:sp>
      <p:sp>
        <p:nvSpPr>
          <p:cNvPr id="33" name="Oval 32"/>
          <p:cNvSpPr/>
          <p:nvPr/>
        </p:nvSpPr>
        <p:spPr>
          <a:xfrm>
            <a:off x="841248" y="4133087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4128" y="4050791"/>
            <a:ext cx="5715000" cy="41147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50.0% summarises advancement frequency under the report’s Q3 rule.</a:t>
            </a:r>
          </a:p>
        </p:txBody>
      </p:sp>
      <p:sp>
        <p:nvSpPr>
          <p:cNvPr id="35" name="Oval 34"/>
          <p:cNvSpPr/>
          <p:nvPr/>
        </p:nvSpPr>
        <p:spPr>
          <a:xfrm>
            <a:off x="841248" y="4572000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4128" y="4489704"/>
            <a:ext cx="5715000" cy="41147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5.78 adds a measure of variation; it is not a score where bigger is better.</a:t>
            </a:r>
          </a:p>
        </p:txBody>
      </p:sp>
      <p:sp>
        <p:nvSpPr>
          <p:cNvPr id="37" name="Oval 36"/>
          <p:cNvSpPr/>
          <p:nvPr/>
        </p:nvSpPr>
        <p:spPr>
          <a:xfrm>
            <a:off x="841248" y="5010912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24128" y="4928616"/>
            <a:ext cx="5715000" cy="41147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76.219 seconds is a minimum and can be affected by the fastest single record.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06640" y="2971800"/>
            <a:ext cx="3977639" cy="2606040"/>
          </a:xfrm>
          <a:prstGeom prst="roundRect">
            <a:avLst/>
          </a:prstGeom>
          <a:solidFill>
            <a:srgbClr val="24272E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52944" y="3081528"/>
            <a:ext cx="37033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49BE8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52944" y="3337560"/>
            <a:ext cx="3703320" cy="21671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These metrics describe different dimensions. The overview becomes useful when the viewer asks which measure answers their question—not when they collapse everything into one rank.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713232"/>
            <a:ext cx="11292840" cy="13716"/>
          </a:xfrm>
          <a:prstGeom prst="rect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E10023"/>
                </a:solidFill>
                <a:latin typeface="Aptos"/>
              </a:defRPr>
            </a:pPr>
            <a:r>
              <a:t>07 / DRIVER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972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Driver comparison: relative edge is not a finishing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9728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AAB1BB"/>
                </a:solidFill>
                <a:latin typeface="Aptos"/>
              </a:defRPr>
            </a:pPr>
            <a:r>
              <a:t>The report surfaces the strongest reported positive and negative edge values; interpret signs using the dashboard’s own measure definition.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defRPr sz="900" b="1">
                <a:solidFill>
                  <a:srgbClr val="E1002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6629400" cy="438912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435607"/>
            <a:ext cx="6355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F5F6F8"/>
                </a:solidFill>
                <a:latin typeface="Aptos"/>
              </a:defRPr>
            </a:pPr>
            <a:r>
              <a:t>REPORTED QUALIFYING EDGE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2871" y="1810512"/>
            <a:ext cx="10972" cy="3767328"/>
          </a:xfrm>
          <a:prstGeom prst="rect">
            <a:avLst/>
          </a:prstGeom>
          <a:solidFill>
            <a:srgbClr val="5A6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1828800"/>
            <a:ext cx="1657350" cy="12252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SYN D15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2871" y="2152131"/>
            <a:ext cx="2085243" cy="59692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3834" y="1828800"/>
            <a:ext cx="928116" cy="12344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900" b="1">
                <a:solidFill>
                  <a:srgbClr val="F5F6F8"/>
                </a:solidFill>
                <a:latin typeface="Aptos"/>
              </a:defRPr>
            </a:pPr>
            <a:r>
              <a:t>+0.46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3072384"/>
            <a:ext cx="1657350" cy="12252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SYN D13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2871" y="3395715"/>
            <a:ext cx="1949249" cy="59692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7840" y="3072384"/>
            <a:ext cx="928116" cy="12344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900" b="1">
                <a:solidFill>
                  <a:srgbClr val="F5F6F8"/>
                </a:solidFill>
                <a:latin typeface="Aptos"/>
              </a:defRPr>
            </a:pPr>
            <a:r>
              <a:t>+0.43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4315968"/>
            <a:ext cx="1657350" cy="12252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SYN D10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05609" y="4639299"/>
            <a:ext cx="1677261" cy="596920"/>
          </a:xfrm>
          <a:prstGeom prst="rect">
            <a:avLst/>
          </a:prstGeom>
          <a:solidFill>
            <a:srgbClr val="559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02689" y="4315968"/>
            <a:ext cx="928116" cy="12344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900" b="1">
                <a:solidFill>
                  <a:srgbClr val="F5F6F8"/>
                </a:solidFill>
                <a:latin typeface="Aptos"/>
              </a:defRPr>
            </a:pPr>
            <a:r>
              <a:t>-0.37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1325880"/>
            <a:ext cx="3931920" cy="438912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54112" y="1600200"/>
            <a:ext cx="34290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E10023"/>
                </a:solidFill>
                <a:latin typeface="Aptos"/>
              </a:defRPr>
            </a:pPr>
            <a:r>
              <a:t>WHAT THIS VIEW TELLS YOU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0" y="2139696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79" y="2057400"/>
            <a:ext cx="3063239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F5F6F8"/>
                </a:solidFill>
                <a:latin typeface="Aptos"/>
              </a:defRPr>
            </a:pPr>
            <a:r>
              <a:t>Edge values provide a relative comparison under the dashboard’s calculation.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0" y="2798063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79" y="2715768"/>
            <a:ext cx="3063239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F5F6F8"/>
                </a:solidFill>
                <a:latin typeface="Aptos"/>
              </a:defRPr>
            </a:pPr>
            <a:r>
              <a:t>The sign must be interpreted from the actual measure definition.</a:t>
            </a:r>
          </a:p>
        </p:txBody>
      </p:sp>
      <p:sp>
        <p:nvSpPr>
          <p:cNvPr id="27" name="Oval 26"/>
          <p:cNvSpPr/>
          <p:nvPr/>
        </p:nvSpPr>
        <p:spPr>
          <a:xfrm>
            <a:off x="7772400" y="3456432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79" y="3374136"/>
            <a:ext cx="3063239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F5F6F8"/>
                </a:solidFill>
                <a:latin typeface="Aptos"/>
              </a:defRPr>
            </a:pPr>
            <a:r>
              <a:t>These values are not raw qualifying positions or lap times.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0" y="4114800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55279" y="4032504"/>
            <a:ext cx="3063239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F5F6F8"/>
                </a:solidFill>
                <a:latin typeface="Aptos"/>
              </a:defRPr>
            </a:pPr>
            <a:r>
              <a:t>Use Q3 reach and position spread as complementary checks.</a:t>
            </a:r>
          </a:p>
        </p:txBody>
      </p:sp>
      <p:sp>
        <p:nvSpPr>
          <p:cNvPr id="31" name="Oval 30"/>
          <p:cNvSpPr/>
          <p:nvPr/>
        </p:nvSpPr>
        <p:spPr>
          <a:xfrm>
            <a:off x="7772400" y="4773168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55279" y="4690872"/>
            <a:ext cx="3063239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F5F6F8"/>
                </a:solidFill>
                <a:latin typeface="Aptos"/>
              </a:defRPr>
            </a:pPr>
            <a:r>
              <a:rPr dirty="0"/>
              <a:t>driver IDs do not identify real F1 drivers.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713232"/>
            <a:ext cx="11292840" cy="13716"/>
          </a:xfrm>
          <a:prstGeom prst="rect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E10023"/>
                </a:solidFill>
                <a:latin typeface="Aptos"/>
              </a:defRPr>
            </a:pPr>
            <a:r>
              <a:t>08 / CONSTRUCTOR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972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Constructor comparison: team-level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9728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AAB1BB"/>
                </a:solidFill>
                <a:latin typeface="Aptos"/>
              </a:defRPr>
            </a:pPr>
            <a:r>
              <a:t>The same analytical logic can be applied to constructor identifiers without treating one measure as a complete ranking.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defRPr sz="900" b="1">
                <a:solidFill>
                  <a:srgbClr val="E1002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6629400" cy="438912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435607"/>
            <a:ext cx="6355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F5F6F8"/>
                </a:solidFill>
                <a:latin typeface="Aptos"/>
              </a:defRPr>
            </a:pPr>
            <a:r>
              <a:t>REPORTED CONSTRUCTOR QUALIFYING EDGE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2871" y="1810512"/>
            <a:ext cx="10972" cy="3767328"/>
          </a:xfrm>
          <a:prstGeom prst="rect">
            <a:avLst/>
          </a:prstGeom>
          <a:solidFill>
            <a:srgbClr val="5A6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1828800"/>
            <a:ext cx="1657350" cy="9144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SYN T08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2871" y="2071298"/>
            <a:ext cx="2115464" cy="44769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44055" y="1828800"/>
            <a:ext cx="928116" cy="9235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900" b="1">
                <a:solidFill>
                  <a:srgbClr val="F5F6F8"/>
                </a:solidFill>
                <a:latin typeface="Aptos"/>
              </a:defRPr>
            </a:pPr>
            <a:r>
              <a:t>+0.28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761488"/>
            <a:ext cx="1657350" cy="9144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SYN T06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2871" y="3003986"/>
            <a:ext cx="1208836" cy="44769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37427" y="2761488"/>
            <a:ext cx="928116" cy="9235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900" b="1">
                <a:solidFill>
                  <a:srgbClr val="F5F6F8"/>
                </a:solidFill>
                <a:latin typeface="Aptos"/>
              </a:defRPr>
            </a:pPr>
            <a:r>
              <a:t>+0.16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3694176"/>
            <a:ext cx="1657350" cy="9144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SYN T07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82871" y="3936674"/>
            <a:ext cx="1057732" cy="44769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86323" y="3694176"/>
            <a:ext cx="928116" cy="9235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900" b="1">
                <a:solidFill>
                  <a:srgbClr val="F5F6F8"/>
                </a:solidFill>
                <a:latin typeface="Aptos"/>
              </a:defRPr>
            </a:pPr>
            <a:r>
              <a:t>+0.14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4626864"/>
            <a:ext cx="1657350" cy="9144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SYN T03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71825" y="4869362"/>
            <a:ext cx="1511045" cy="447690"/>
          </a:xfrm>
          <a:prstGeom prst="rect">
            <a:avLst/>
          </a:prstGeom>
          <a:solidFill>
            <a:srgbClr val="559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68905" y="4626864"/>
            <a:ext cx="928116" cy="9235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900" b="1">
                <a:solidFill>
                  <a:srgbClr val="F5F6F8"/>
                </a:solidFill>
                <a:latin typeface="Aptos"/>
              </a:defRPr>
            </a:pPr>
            <a:r>
              <a:t>-0.20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1325880"/>
            <a:ext cx="3931920" cy="438912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54112" y="1600200"/>
            <a:ext cx="34290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E10023"/>
                </a:solidFill>
                <a:latin typeface="Aptos"/>
              </a:defRPr>
            </a:pPr>
            <a:r>
              <a:t>QUESTIONS TO ASK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2139696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79" y="2057400"/>
            <a:ext cx="3063239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F5F6F8"/>
                </a:solidFill>
                <a:latin typeface="Aptos"/>
              </a:defRPr>
            </a:pPr>
            <a:r>
              <a:t>Does the edge value agree with Q3 reach in the same filter context?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0" y="2798063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55279" y="2715768"/>
            <a:ext cx="3063239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F5F6F8"/>
                </a:solidFill>
                <a:latin typeface="Aptos"/>
              </a:defRPr>
            </a:pPr>
            <a:r>
              <a:t>Is the constructor’s average position stable across seasons?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3456432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79" y="3374136"/>
            <a:ext cx="3063239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F5F6F8"/>
                </a:solidFill>
                <a:latin typeface="Aptos"/>
              </a:defRPr>
            </a:pPr>
            <a:r>
              <a:t>Does a team-level average hide variation between drivers?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0" y="4114800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55279" y="4032504"/>
            <a:ext cx="3063239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F5F6F8"/>
                </a:solidFill>
                <a:latin typeface="Aptos"/>
              </a:defRPr>
            </a:pPr>
            <a:r>
              <a:t>Are comparisons based on comparable sample sizes?</a:t>
            </a:r>
          </a:p>
        </p:txBody>
      </p:sp>
      <p:sp>
        <p:nvSpPr>
          <p:cNvPr id="34" name="Oval 33"/>
          <p:cNvSpPr/>
          <p:nvPr/>
        </p:nvSpPr>
        <p:spPr>
          <a:xfrm>
            <a:off x="7772400" y="4773168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55279" y="4690872"/>
            <a:ext cx="3063239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F5F6F8"/>
                </a:solidFill>
                <a:latin typeface="Aptos"/>
              </a:defRPr>
            </a:pPr>
            <a:r>
              <a:t>Are all labels synthetic rather than real constructor names?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713232"/>
            <a:ext cx="11292840" cy="13716"/>
          </a:xfrm>
          <a:prstGeom prst="rect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E10023"/>
                </a:solidFill>
                <a:latin typeface="Aptos"/>
              </a:defRPr>
            </a:pPr>
            <a:r>
              <a:t>09 / SEASON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972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Seasonal trend: a narrow range still needs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9728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AAB1BB"/>
                </a:solidFill>
                <a:latin typeface="Aptos"/>
              </a:defRPr>
            </a:pPr>
            <a:r>
              <a:t>The current dashboard shows average qualifying position between approximately 10.38 and 10.60.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defRPr sz="900" b="1">
                <a:solidFill>
                  <a:srgbClr val="E1002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6492240" cy="205740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627632"/>
            <a:ext cx="5943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E10023"/>
                </a:solidFill>
                <a:latin typeface="Aptos"/>
              </a:defRPr>
            </a:pPr>
            <a:r>
              <a:t>REPORTED SEASONAL AVERAGE POSITION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1"/>
            <a:ext cx="1920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600" b="1">
                <a:solidFill>
                  <a:srgbClr val="F5F6F8"/>
                </a:solidFill>
                <a:latin typeface="Aptos Display"/>
              </a:defRPr>
            </a:pPr>
            <a:r>
              <a:t>10.38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084831"/>
            <a:ext cx="16459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defRPr sz="2600" b="1">
                <a:solidFill>
                  <a:srgbClr val="F5F6F8"/>
                </a:solidFill>
                <a:latin typeface="Aptos Display"/>
              </a:defRPr>
            </a:pPr>
            <a:r>
              <a:t>10.60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816352"/>
            <a:ext cx="5394960" cy="109728"/>
          </a:xfrm>
          <a:prstGeom prst="rect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41832" y="2743200"/>
            <a:ext cx="237744" cy="237744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36792" y="2743200"/>
            <a:ext cx="237744" cy="237744"/>
          </a:xfrm>
          <a:prstGeom prst="ellipse">
            <a:avLst/>
          </a:prstGeom>
          <a:solidFill>
            <a:srgbClr val="49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054096"/>
            <a:ext cx="21945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Lowest around 2011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054096"/>
            <a:ext cx="21945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defRPr sz="1000" b="0">
                <a:solidFill>
                  <a:srgbClr val="AAB1BB"/>
                </a:solidFill>
                <a:latin typeface="Aptos"/>
              </a:defRPr>
            </a:pPr>
            <a:r>
              <a:t>Highest around 2015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1371600"/>
            <a:ext cx="3977639" cy="205740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99248" y="1645920"/>
            <a:ext cx="3474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E10023"/>
                </a:solidFill>
                <a:latin typeface="Aptos"/>
              </a:defRPr>
            </a:pPr>
            <a:r>
              <a:t>WHAT THIS SUGGESTS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2084831"/>
            <a:ext cx="3429000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The reported range is narrow, so avoid claiming a dramatic long-term shift based on this view alone.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49039"/>
            <a:ext cx="5257800" cy="1508760"/>
          </a:xfrm>
          <a:prstGeom prst="roundRect">
            <a:avLst/>
          </a:prstGeom>
          <a:solidFill>
            <a:srgbClr val="24272E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3858768"/>
            <a:ext cx="4983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E10023"/>
                </a:solidFill>
                <a:latin typeface="Aptos"/>
              </a:defRPr>
            </a:pPr>
            <a:r>
              <a:t>WHY INCLUDE Q3 REACH TOO?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114800"/>
            <a:ext cx="4983480" cy="10698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Average position describes where results sit; Q3 reach describes how often the defined advancement threshold is met. A season can move differently on each measure.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749039"/>
            <a:ext cx="5257800" cy="1508760"/>
          </a:xfrm>
          <a:prstGeom prst="roundRect">
            <a:avLst/>
          </a:prstGeom>
          <a:solidFill>
            <a:srgbClr val="24272E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18504" y="3858768"/>
            <a:ext cx="4983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F5B84C"/>
                </a:solidFill>
                <a:latin typeface="Aptos"/>
              </a:defRPr>
            </a:pPr>
            <a:r>
              <a:t>CAUTION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4114800"/>
            <a:ext cx="4983480" cy="10698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The data is synthetic. Seasonal patterns demonstrate how the report can be used; they are not evidence of real-world Formula 1 era changes.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713232"/>
            <a:ext cx="11292840" cy="13716"/>
          </a:xfrm>
          <a:prstGeom prst="rect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E10023"/>
                </a:solidFill>
                <a:latin typeface="Aptos"/>
              </a:defRPr>
            </a:pPr>
            <a:r>
              <a:t>10 / LAP-TIME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972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Lap-time analysis: identify the pattern, then investigate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9728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AAB1BB"/>
                </a:solidFill>
                <a:latin typeface="Aptos"/>
              </a:defRPr>
            </a:pPr>
            <a:r>
              <a:t>The dashboard reports average lap time rising from about 94.46 seconds on lap 1 to 97.48 seconds on lap 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defRPr sz="900" b="1">
                <a:solidFill>
                  <a:srgbClr val="E1002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2560320" cy="123444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0292" cy="123444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1490472"/>
            <a:ext cx="22860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LAP 1 AVERAGE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755648"/>
            <a:ext cx="228600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94.46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240280"/>
            <a:ext cx="2240279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Reported dashboard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371600"/>
            <a:ext cx="2560320" cy="123444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7560" y="1371600"/>
            <a:ext cx="50292" cy="123444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02152" y="1490472"/>
            <a:ext cx="22860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LAP 7 AVERAGE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1755648"/>
            <a:ext cx="228600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97.48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240280"/>
            <a:ext cx="2240279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Reported dashboard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371600"/>
            <a:ext cx="2560320" cy="123444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35040" y="1371600"/>
            <a:ext cx="50292" cy="123444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9631" y="1490472"/>
            <a:ext cx="22860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DIFFERENCE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1" y="1755648"/>
            <a:ext cx="228600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+3.02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1" y="2240280"/>
            <a:ext cx="2240279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Lap 7 minus lap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1371600"/>
            <a:ext cx="2560320" cy="123444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732520" y="1371600"/>
            <a:ext cx="50292" cy="123444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97112" y="1490472"/>
            <a:ext cx="22860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7112" y="1755648"/>
            <a:ext cx="228600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Average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7112" y="2240280"/>
            <a:ext cx="2240279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Not fastest-lap 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2971800"/>
            <a:ext cx="6537960" cy="242316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3218688"/>
            <a:ext cx="60350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E10023"/>
                </a:solidFill>
                <a:latin typeface="Aptos"/>
              </a:defRPr>
            </a:pPr>
            <a:r>
              <a:t>WHAT CAN BE SAID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3721608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3639312"/>
            <a:ext cx="566928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The current view shows a higher average time at later lap numbers.</a:t>
            </a:r>
          </a:p>
        </p:txBody>
      </p:sp>
      <p:sp>
        <p:nvSpPr>
          <p:cNvPr id="33" name="Oval 32"/>
          <p:cNvSpPr/>
          <p:nvPr/>
        </p:nvSpPr>
        <p:spPr>
          <a:xfrm>
            <a:off x="914400" y="4224528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97280" y="4142232"/>
            <a:ext cx="566928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The difference is descriptive, not proof of why the pattern occurs.</a:t>
            </a:r>
          </a:p>
        </p:txBody>
      </p:sp>
      <p:sp>
        <p:nvSpPr>
          <p:cNvPr id="35" name="Oval 34"/>
          <p:cNvSpPr/>
          <p:nvPr/>
        </p:nvSpPr>
        <p:spPr>
          <a:xfrm>
            <a:off x="914400" y="4727448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7280" y="4645152"/>
            <a:ext cx="566928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Average lap time can be influenced by sample composition and filtering.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88352" y="2807208"/>
            <a:ext cx="3840480" cy="1618488"/>
          </a:xfrm>
          <a:prstGeom prst="roundRect">
            <a:avLst/>
          </a:prstGeom>
          <a:solidFill>
            <a:srgbClr val="24272E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98664" y="3081528"/>
            <a:ext cx="35661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F5B84C"/>
                </a:solidFill>
                <a:latin typeface="Aptos"/>
              </a:defRPr>
            </a:pPr>
            <a:r>
              <a:t>WHAT FURTHER ANALYSIS WOULD NEED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98664" y="3337560"/>
            <a:ext cx="3566160" cy="1984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To investigate cause, add and validate variables such as circuit, weather, tyre compound, pit stops, safety-car periods and race context. Those causes are not established by this chart alone.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713232"/>
            <a:ext cx="11292840" cy="13716"/>
          </a:xfrm>
          <a:prstGeom prst="rect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E10023"/>
                </a:solidFill>
                <a:latin typeface="Aptos"/>
              </a:defRPr>
            </a:pPr>
            <a:r>
              <a:t>11 / REPORT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972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The four Power BI pages work as one analytical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9728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AAB1BB"/>
                </a:solidFill>
                <a:latin typeface="Aptos"/>
              </a:defRPr>
            </a:pPr>
            <a:r>
              <a:rPr dirty="0"/>
              <a:t>Use the actual report pages to explain how a viewer moves from summary to comparison and time-based exploration.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defRPr sz="900" b="1">
                <a:solidFill>
                  <a:srgbClr val="E1002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5349240" cy="205740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026-10-11 2028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243" y="1435607"/>
            <a:ext cx="2221473" cy="1417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8952" y="2926080"/>
            <a:ext cx="1965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1">
                <a:solidFill>
                  <a:srgbClr val="E10023"/>
                </a:solidFill>
                <a:latin typeface="Aptos"/>
              </a:defRPr>
            </a:pPr>
            <a:r>
              <a:t>01 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898648"/>
            <a:ext cx="30632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0">
                <a:solidFill>
                  <a:srgbClr val="AAB1BB"/>
                </a:solidFill>
                <a:latin typeface="Aptos"/>
              </a:defRPr>
            </a:pPr>
            <a:r>
              <a:t>Establish the baseline and scan distributions.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5349240" cy="205740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creenshot 2026-10-11 2029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008" y="1435607"/>
            <a:ext cx="2245623" cy="1417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36792" y="2926080"/>
            <a:ext cx="1965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1">
                <a:solidFill>
                  <a:srgbClr val="E10023"/>
                </a:solidFill>
                <a:latin typeface="Aptos"/>
              </a:defRPr>
            </a:pPr>
            <a:r>
              <a:t>02  DRIVERS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898648"/>
            <a:ext cx="30632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0">
                <a:solidFill>
                  <a:srgbClr val="AAB1BB"/>
                </a:solidFill>
                <a:latin typeface="Aptos"/>
              </a:defRPr>
            </a:pPr>
            <a:r>
              <a:t>Compare driver-level indicators.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57600"/>
            <a:ext cx="5349240" cy="205740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creenshot 2026-10-11 2029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383" y="3767328"/>
            <a:ext cx="2217193" cy="1417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8952" y="5257800"/>
            <a:ext cx="1965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1">
                <a:solidFill>
                  <a:srgbClr val="E10023"/>
                </a:solidFill>
                <a:latin typeface="Aptos"/>
              </a:defRPr>
            </a:pPr>
            <a:r>
              <a:t>03  CONSTRUCTORS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230368"/>
            <a:ext cx="30632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0">
                <a:solidFill>
                  <a:srgbClr val="AAB1BB"/>
                </a:solidFill>
                <a:latin typeface="Aptos"/>
              </a:defRPr>
            </a:pPr>
            <a:r>
              <a:t>Inspect team-level edge, reach and variation.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57600"/>
            <a:ext cx="5349240" cy="205740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Screenshot 2026-10-11 2027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1767" y="3767328"/>
            <a:ext cx="2230105" cy="1417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36792" y="5257800"/>
            <a:ext cx="1965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1">
                <a:solidFill>
                  <a:srgbClr val="E10023"/>
                </a:solidFill>
                <a:latin typeface="Aptos"/>
              </a:defRPr>
            </a:pPr>
            <a:r>
              <a:t>04  SEASON TRENDS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230368"/>
            <a:ext cx="30632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0">
                <a:solidFill>
                  <a:srgbClr val="AAB1BB"/>
                </a:solidFill>
                <a:latin typeface="Aptos"/>
              </a:defRPr>
            </a:pPr>
            <a:r>
              <a:t>Explore year-based and lap-number patterns.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713232"/>
            <a:ext cx="11292840" cy="13716"/>
          </a:xfrm>
          <a:prstGeom prst="rect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E10023"/>
                </a:solidFill>
                <a:latin typeface="Aptos"/>
              </a:defRPr>
            </a:pPr>
            <a:r>
              <a:t>12 /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972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What the combined analysis tells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9728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AAB1BB"/>
                </a:solidFill>
                <a:latin typeface="Aptos"/>
              </a:defRPr>
            </a:pPr>
            <a:r>
              <a:t>The value is the combination of measures—not an unsupported “best driver” or “best constructor” claim.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defRPr sz="900" b="1">
                <a:solidFill>
                  <a:srgbClr val="E1002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5257800" cy="178308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554480"/>
            <a:ext cx="48006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E10023"/>
                </a:solidFill>
                <a:latin typeface="Aptos"/>
              </a:defRPr>
            </a:pPr>
            <a:r>
              <a:t>01 /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65960"/>
            <a:ext cx="4800600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The overview gives a common reference point: 10.48 average qualifying position, 50.0% Q3 reach and 5.78 position spread.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57800" cy="178308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554480"/>
            <a:ext cx="48006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E10023"/>
                </a:solidFill>
                <a:latin typeface="Aptos"/>
              </a:defRPr>
            </a:pPr>
            <a:r>
              <a:t>02 / Driver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65960"/>
            <a:ext cx="4800600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The report surfaces relative edge values, but those values must be read with their calculation definition and the other driver indicators.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74720"/>
            <a:ext cx="5257800" cy="178308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657600"/>
            <a:ext cx="48006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E10023"/>
                </a:solidFill>
                <a:latin typeface="Aptos"/>
              </a:defRPr>
            </a:pPr>
            <a:r>
              <a:t>03 / Team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069080"/>
            <a:ext cx="4800600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Constructor views make group-level comparison possible while reminding us that averages can hide driver-level variation.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5257800" cy="178308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657600"/>
            <a:ext cx="48006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E10023"/>
                </a:solidFill>
                <a:latin typeface="Aptos"/>
              </a:defRPr>
            </a:pPr>
            <a:r>
              <a:t>04 / Time dimension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069080"/>
            <a:ext cx="4800600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Season and lap-number views reveal descriptive patterns; they do not by themselves explain the cause of those patterns.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715000"/>
            <a:ext cx="10789920" cy="502920"/>
          </a:xfrm>
          <a:prstGeom prst="roundRect">
            <a:avLst/>
          </a:prstGeom>
          <a:solidFill>
            <a:srgbClr val="24272E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5715000"/>
            <a:ext cx="10515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49BE8B"/>
                </a:solidFill>
                <a:latin typeface="Aptos"/>
              </a:defRPr>
            </a:pPr>
            <a:r>
              <a:rPr dirty="0"/>
              <a:t>BOTTOM 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6080760"/>
            <a:ext cx="10515600" cy="640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rPr dirty="0"/>
              <a:t>The report demonstrates a multi-angle analysis workflow; the synthetic dataset limits real-world conclusions.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713232"/>
            <a:ext cx="11292840" cy="13716"/>
          </a:xfrm>
          <a:prstGeom prst="rect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E10023"/>
                </a:solidFill>
                <a:latin typeface="Aptos"/>
              </a:defRPr>
            </a:pPr>
            <a:r>
              <a:t>13 / QUALITY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972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What should be validated before stronger 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9728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AAB1BB"/>
                </a:solidFill>
                <a:latin typeface="Aptos"/>
              </a:defRPr>
            </a:pPr>
            <a:r>
              <a:rPr lang="en-US" dirty="0"/>
              <a:t>This slide is part of the analysis: credible reporting explains both the findings and their boundaries.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defRPr sz="900" b="1">
                <a:solidFill>
                  <a:srgbClr val="E1002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5303520" cy="452628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600200"/>
            <a:ext cx="46634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E10023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139696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057400"/>
            <a:ext cx="4434840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rPr dirty="0"/>
              <a:t>All qualifying positions and lap times in the add-on workbook are synthetic.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798063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2715768"/>
            <a:ext cx="4434840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rPr dirty="0"/>
              <a:t>keys do not map to original F1 IDs.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456432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374136"/>
            <a:ext cx="4434840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Year coverage is generated and is not a verified race calendar.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114800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032504"/>
            <a:ext cx="4434840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Edge measure sign and formula should be documented in the report.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773168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690872"/>
            <a:ext cx="4434840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Comparisons can be distorted if filters create unequal samples.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325880"/>
            <a:ext cx="5303520" cy="452628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3952" y="1600200"/>
            <a:ext cx="46634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49BE8B"/>
                </a:solidFill>
                <a:latin typeface="Aptos"/>
              </a:defRPr>
            </a:pPr>
            <a:r>
              <a:t>NEXT ITERATION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2139696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2057400"/>
            <a:ext cx="4389120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Add a data dictionary with every KPI formula and direction.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798063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2715768"/>
            <a:ext cx="4389120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Create a validation page for row counts, missing values and filter logic.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3456432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3374136"/>
            <a:ext cx="4389120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Label synthetic data in report titles/tooltips and presentation captions.</a:t>
            </a:r>
          </a:p>
        </p:txBody>
      </p:sp>
      <p:sp>
        <p:nvSpPr>
          <p:cNvPr id="29" name="Oval 28"/>
          <p:cNvSpPr/>
          <p:nvPr/>
        </p:nvSpPr>
        <p:spPr>
          <a:xfrm>
            <a:off x="6492240" y="4114800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4032504"/>
            <a:ext cx="4389120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Use verified official data only if the goal changes to historical F1 analysis.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773168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0" y="4690872"/>
            <a:ext cx="4389120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Add race context variables before attempting causal explanations.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713232"/>
            <a:ext cx="11292840" cy="13716"/>
          </a:xfrm>
          <a:prstGeom prst="rect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E10023"/>
                </a:solidFill>
                <a:latin typeface="Aptos"/>
              </a:defRPr>
            </a:pPr>
            <a:r>
              <a:t>14 / PROJECT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972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What I built and what I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9728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AAB1BB"/>
                </a:solidFill>
                <a:latin typeface="Aptos"/>
              </a:defRPr>
            </a:pPr>
            <a:r>
              <a:t>A project explanation should connect the Power BI artefact to the analytical decisions behind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defRPr sz="900" b="1">
                <a:solidFill>
                  <a:srgbClr val="E10023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3429000" cy="132588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0292" cy="132588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1536192"/>
            <a:ext cx="3154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801368"/>
            <a:ext cx="315468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2 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3108960" cy="42062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Inspected grain, row counts and key namespaces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429000" cy="132588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417320"/>
            <a:ext cx="50292" cy="132588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1536192"/>
            <a:ext cx="3154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ANALYTICAL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801368"/>
            <a:ext cx="315468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4 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286000"/>
            <a:ext cx="3108960" cy="42062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Overview, drivers, constructors and season 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417320"/>
            <a:ext cx="3429000" cy="132588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1417320"/>
            <a:ext cx="50292" cy="132588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1536192"/>
            <a:ext cx="3154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AAB1B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1801368"/>
            <a:ext cx="315468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Multi-KPI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286000"/>
            <a:ext cx="3108960" cy="42062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0">
                <a:solidFill>
                  <a:srgbClr val="AAB1BB"/>
                </a:solidFill>
                <a:latin typeface="Aptos"/>
              </a:defRPr>
            </a:pPr>
            <a:r>
              <a:t>Compared position, reach, spread and time patterns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246120"/>
            <a:ext cx="5257800" cy="224028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493008"/>
            <a:ext cx="46634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E10023"/>
                </a:solidFill>
                <a:latin typeface="Aptos"/>
              </a:defRPr>
            </a:pPr>
            <a:r>
              <a:t>TECHNICAL SKILLS DEMONSTRATED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3968496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3886200"/>
            <a:ext cx="4389120" cy="4480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Data modelling awareness and grain validation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4443983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4361688"/>
            <a:ext cx="4389120" cy="4480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KPI interpretation and visual storytelling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4919472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4837176"/>
            <a:ext cx="4389120" cy="4480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Power BI page structure and cross-view reasoning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246120"/>
            <a:ext cx="5257800" cy="224028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3493008"/>
            <a:ext cx="46634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1">
                <a:solidFill>
                  <a:srgbClr val="49BE8B"/>
                </a:solidFill>
                <a:latin typeface="Aptos"/>
              </a:defRPr>
            </a:pPr>
            <a:r>
              <a:t>ANALYTICAL SKILLS DEMONSTRATED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3968496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3886200"/>
            <a:ext cx="4389120" cy="4480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Separating correlation/pattern from explanation</a:t>
            </a:r>
          </a:p>
        </p:txBody>
      </p:sp>
      <p:sp>
        <p:nvSpPr>
          <p:cNvPr id="36" name="Oval 35"/>
          <p:cNvSpPr/>
          <p:nvPr/>
        </p:nvSpPr>
        <p:spPr>
          <a:xfrm>
            <a:off x="6492240" y="4443983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75120" y="4361688"/>
            <a:ext cx="4389120" cy="4480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Recognising when averages hide variation</a:t>
            </a:r>
          </a:p>
        </p:txBody>
      </p:sp>
      <p:sp>
        <p:nvSpPr>
          <p:cNvPr id="38" name="Oval 37"/>
          <p:cNvSpPr/>
          <p:nvPr/>
        </p:nvSpPr>
        <p:spPr>
          <a:xfrm>
            <a:off x="6492240" y="4919472"/>
            <a:ext cx="82296" cy="82296"/>
          </a:xfrm>
          <a:prstGeom prst="ellipse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75120" y="4837176"/>
            <a:ext cx="4389120" cy="4480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t>Communicating assumptions and data limitations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713232"/>
            <a:ext cx="11292840" cy="13716"/>
          </a:xfrm>
          <a:prstGeom prst="rect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E10023"/>
                </a:solidFill>
                <a:latin typeface="Aptos"/>
              </a:defRPr>
            </a:pPr>
            <a:r>
              <a:t>15 /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0972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500" b="1">
                <a:solidFill>
                  <a:srgbClr val="F5F6F8"/>
                </a:solidFill>
                <a:latin typeface="Aptos Display"/>
              </a:defRPr>
            </a:pPr>
            <a:r>
              <a:t>A dashboard is a tool for asking better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9728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0">
                <a:solidFill>
                  <a:srgbClr val="AAB1BB"/>
                </a:solidFill>
                <a:latin typeface="Aptos"/>
              </a:defRPr>
            </a:pPr>
            <a:r>
              <a:t>F1 Performance Hub connects a baseline to entity comparisons and time-based views in a single interactive reporting experience.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defRPr sz="900" b="1">
                <a:solidFill>
                  <a:srgbClr val="E10023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1069848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defRPr sz="2100" b="1">
                <a:solidFill>
                  <a:srgbClr val="F5F6F8"/>
                </a:solidFill>
                <a:latin typeface="Aptos Display"/>
              </a:defRPr>
            </a:pPr>
            <a:r>
              <a:t>The strongest outcome is not one headline number. It is a repeatable way to inspect performance from multiple angles while keeping the data’s limitations visible.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71800"/>
            <a:ext cx="2560320" cy="1188720"/>
          </a:xfrm>
          <a:prstGeom prst="roundRect">
            <a:avLst/>
          </a:prstGeom>
          <a:solidFill>
            <a:srgbClr val="24272E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3182112"/>
            <a:ext cx="457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1">
                <a:solidFill>
                  <a:srgbClr val="E1002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54680"/>
            <a:ext cx="17830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1200" b="1">
                <a:solidFill>
                  <a:srgbClr val="F5F6F8"/>
                </a:solidFill>
                <a:latin typeface="Aptos"/>
              </a:defRPr>
            </a:pPr>
            <a:r>
              <a:rPr dirty="0"/>
              <a:t>Start with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8" y="2971800"/>
            <a:ext cx="2560320" cy="1188720"/>
          </a:xfrm>
          <a:prstGeom prst="roundRect">
            <a:avLst/>
          </a:prstGeom>
          <a:solidFill>
            <a:srgbClr val="24272E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48456" y="3182112"/>
            <a:ext cx="457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1">
                <a:solidFill>
                  <a:srgbClr val="E1002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8" y="3154680"/>
            <a:ext cx="17830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1200" b="1">
                <a:solidFill>
                  <a:srgbClr val="F5F6F8"/>
                </a:solidFill>
                <a:latin typeface="Aptos"/>
              </a:defRPr>
            </a:pPr>
            <a:r>
              <a:t>Compare complementary measures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91656" y="2971800"/>
            <a:ext cx="2560320" cy="1188720"/>
          </a:xfrm>
          <a:prstGeom prst="roundRect">
            <a:avLst/>
          </a:prstGeom>
          <a:solidFill>
            <a:srgbClr val="24272E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1384" y="3182112"/>
            <a:ext cx="457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1">
                <a:solidFill>
                  <a:srgbClr val="E1002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3154680"/>
            <a:ext cx="17830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1200" b="1">
                <a:solidFill>
                  <a:srgbClr val="F5F6F8"/>
                </a:solidFill>
                <a:latin typeface="Aptos"/>
              </a:defRPr>
            </a:pPr>
            <a:r>
              <a:t>Explore time-based patterns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44584" y="2971800"/>
            <a:ext cx="2560320" cy="1188720"/>
          </a:xfrm>
          <a:prstGeom prst="roundRect">
            <a:avLst/>
          </a:prstGeom>
          <a:solidFill>
            <a:srgbClr val="24272E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54311" y="3182112"/>
            <a:ext cx="457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1">
                <a:solidFill>
                  <a:srgbClr val="E1002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38944" y="3154680"/>
            <a:ext cx="17830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1200" b="1">
                <a:solidFill>
                  <a:srgbClr val="F5F6F8"/>
                </a:solidFill>
                <a:latin typeface="Aptos"/>
              </a:defRPr>
            </a:pPr>
            <a:r>
              <a:t>Validate before concluding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754880"/>
            <a:ext cx="10149840" cy="822960"/>
          </a:xfrm>
          <a:prstGeom prst="roundRect">
            <a:avLst/>
          </a:prstGeom>
          <a:solidFill>
            <a:srgbClr val="24272E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52144" y="4864608"/>
            <a:ext cx="9875519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900" b="1">
                <a:solidFill>
                  <a:srgbClr val="F5B84C"/>
                </a:solidFill>
                <a:latin typeface="Aptos"/>
              </a:defRPr>
            </a:pPr>
            <a:r>
              <a:t>FINAL NOTE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" y="5120640"/>
            <a:ext cx="9875519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200" b="0">
                <a:solidFill>
                  <a:srgbClr val="F5F6F8"/>
                </a:solidFill>
                <a:latin typeface="Aptos"/>
              </a:defRPr>
            </a:pPr>
            <a:r>
              <a:rPr dirty="0"/>
              <a:t>This is a data</a:t>
            </a:r>
            <a:r>
              <a:rPr lang="en-US" dirty="0"/>
              <a:t>set </a:t>
            </a:r>
            <a:r>
              <a:rPr dirty="0"/>
              <a:t>Power BI analytics demonstration. Any claim about actual Formula 1 performance would require verified historical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1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713232"/>
            <a:ext cx="11292840" cy="13716"/>
          </a:xfrm>
          <a:prstGeom prst="rect">
            <a:avLst/>
          </a:prstGeom>
          <a:solidFill>
            <a:srgbClr val="242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45720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100" b="1">
                <a:solidFill>
                  <a:srgbClr val="E10023"/>
                </a:solidFill>
                <a:latin typeface="Aptos"/>
              </a:defRPr>
            </a:pPr>
            <a:r>
              <a:t>F1 PERFORMANCE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94944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4200" b="1">
                <a:solidFill>
                  <a:srgbClr val="F5F6F8"/>
                </a:solidFill>
                <a:latin typeface="Aptos Display"/>
              </a:defRPr>
            </a:pPr>
            <a: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697480"/>
            <a:ext cx="70408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000" b="0">
                <a:solidFill>
                  <a:srgbClr val="AAB1BB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886200"/>
            <a:ext cx="6400800" cy="1097280"/>
          </a:xfrm>
          <a:prstGeom prst="roundRect">
            <a:avLst/>
          </a:prstGeom>
          <a:solidFill>
            <a:srgbClr val="1B1E24"/>
          </a:solidFill>
          <a:ln w="8890">
            <a:solidFill>
              <a:srgbClr val="24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133087"/>
            <a:ext cx="59436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defRPr sz="1600" b="1">
                <a:solidFill>
                  <a:srgbClr val="F5F6F8"/>
                </a:solidFill>
                <a:latin typeface="Aptos"/>
              </a:defRPr>
            </a:pPr>
            <a:r>
              <a:t>From raw records → to meaningful comparisons → to responsible interpretation.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80760"/>
            <a:ext cx="64008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1000" b="1">
                <a:solidFill>
                  <a:srgbClr val="AAB1BB"/>
                </a:solidFill>
                <a:latin typeface="Aptos"/>
              </a:defRPr>
            </a:pPr>
            <a:r>
              <a:t>TANISHA SHAH  •  COMPUTER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3796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defRPr sz="900" b="1">
                <a:solidFill>
                  <a:srgbClr val="E10023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1930</Words>
  <Application>Microsoft Office PowerPoint</Application>
  <PresentationFormat>Widescreen</PresentationFormat>
  <Paragraphs>292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F1 Performance Hub — Project Story and Analysis</dc:title>
  <dc:subject>Power BI performance analysis using synthetic qualifying and lap-time practice data</dc:subject>
  <dc:creator>Tanisha Shah</dc:creator>
  <cp:keywords/>
  <dc:description>generated using python-pptx</dc:description>
  <cp:lastModifiedBy>Tanisha Shah</cp:lastModifiedBy>
  <cp:revision>2</cp:revision>
  <dcterms:created xsi:type="dcterms:W3CDTF">2013-01-27T09:14:16Z</dcterms:created>
  <dcterms:modified xsi:type="dcterms:W3CDTF">2026-10-11T17:30:04Z</dcterms:modified>
  <cp:category/>
</cp:coreProperties>
</file>